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collectibles ($B)</c:v>
                </c:pt>
              </c:strCache>
            </c:strRef>
          </c:tx>
          <c:spPr>
            <a:solidFill>
              <a:srgbClr val="E53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FF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</c:v>
                  </c:pt>
                  <c:pt idx="1">
                    <c:v>2029</c:v>
                  </c:pt>
                  <c:pt idx="2">
                    <c:v>2033</c:v>
                  </c:pt>
                  <c:pt idx="3">
                    <c:v>2035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13.5</c:v>
                </c:pt>
                <c:pt idx="1">
                  <c:v>24</c:v>
                </c:pt>
                <c:pt idx="2">
                  <c:v>40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E8FF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DED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2C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9A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0E10"/>
        </a:solidFill>
        <a:ln>
          <a:noFill/>
        </a:ln>
        <a:effectLst/>
      </c:spPr>
    </c:plotArea>
    <c:plotVisOnly val="1"/>
    <c:dispBlanksAs val="span"/>
  </c:chart>
  <c:spPr>
    <a:solidFill>
      <a:srgbClr val="0E0E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7171B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0"/>
            <a:ext cx="54864" cy="685800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874520"/>
            <a:ext cx="1965960" cy="2743200"/>
          </a:xfrm>
          <a:prstGeom prst="roundRect">
            <a:avLst>
              <a:gd name="adj" fmla="val 5581"/>
            </a:avLst>
          </a:prstGeom>
          <a:solidFill>
            <a:srgbClr val="0E0E10"/>
          </a:solidFill>
          <a:ln w="19050">
            <a:solidFill>
              <a:srgbClr val="E53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4692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F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46920" y="4069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46920" y="4370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001 / 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GLYPH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GLYPH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03504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· TESSERA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D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you were there.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4709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Holographic collectibles that mark a venue's verified real-world presence.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wallet. No chain. No network. It just works.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Confidential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nights of your life leave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almost nothing behind.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night happens 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Then it's a fading photo roll and a story no one quite believes.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have always kept proof of where they belonged — ticket stubs, gig posters, first-pressing vinyl.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era replaced all of it with a screenshot.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2697480"/>
            <a:ext cx="4114800" cy="301752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697480"/>
            <a:ext cx="54864" cy="301752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VENUE CAN HAND YOU TODAY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34290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receipt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loyalty punch card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QR to a wallet they'll never set up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i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category just lost its supplier —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same year demand went mainstream.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520440" cy="301752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520440" cy="73152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0632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 2026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POAP — the protocol that defined “proof of attendance” — stops new issuers. Its founders are openly hunting the “next generation.”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0"/>
            <a:ext cx="3520440" cy="301752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743200"/>
            <a:ext cx="3520440" cy="73152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0632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F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~$13.5B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digital-collectibles market, compounding ~20% a year toward $25–58B+ — shifting from speculation to experiential objects.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20440" cy="301752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743200"/>
            <a:ext cx="3520440" cy="73152"/>
          </a:xfrm>
          <a:prstGeom prst="rect">
            <a:avLst/>
          </a:prstGeom>
          <a:solidFill>
            <a:srgbClr val="EDEDE8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30632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“Third place”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402336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Hospitality's 2026 playbook: emotional loyalty, community-led nights, and community drops over hype drops.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Educated demand. Real supply gone. That's the rarest thing in go-to-market: an open lane.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Tessera: the room, pressed into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something worth keeping.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studio where a venue mints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3D, light-reactive collectible card carrying the venue's own visual identity, tied to one verified night.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73152" cy="73152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59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702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Time-stamped, venue-signed. Presence you can hold.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94760" y="3977640"/>
            <a:ext cx="73152" cy="73152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3959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42702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Per-venue theme engine — loud to refined. Built to be kept.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73152" cy="73152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73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Wallet-free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184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Scan, tap, done. No chain, no app, no network.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94760" y="4892040"/>
            <a:ext cx="73152" cy="73152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4873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5184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editions, sets, and a collector wall.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2651760"/>
            <a:ext cx="3108960" cy="3383280"/>
          </a:xfrm>
          <a:prstGeom prst="roundRect">
            <a:avLst>
              <a:gd name="adj" fmla="val 4118"/>
            </a:avLst>
          </a:prstGeom>
          <a:solidFill>
            <a:srgbClr val="1B1B05"/>
          </a:solidFill>
          <a:ln w="19050">
            <a:solidFill>
              <a:srgbClr val="E8FF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3063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E8F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27532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FONT BAR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75320" y="4526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NIGHT · LISBON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7532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2026   ·   014 / 200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75320" y="6053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tilt it → real foil light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an NFT. Not a punch card.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screenshot.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743200" cy="676656"/>
          </a:xfrm>
          <a:prstGeom prst="rect">
            <a:avLst/>
          </a:prstGeom>
          <a:solidFill>
            <a:srgbClr val="17171B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2743200" cy="676656"/>
          </a:xfrm>
          <a:prstGeom prst="rect">
            <a:avLst/>
          </a:prstGeom>
          <a:solidFill>
            <a:srgbClr val="17171B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7889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POAP / NFTs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788920"/>
            <a:ext cx="2743200" cy="676656"/>
          </a:xfrm>
          <a:prstGeom prst="rect">
            <a:avLst/>
          </a:prstGeom>
          <a:solidFill>
            <a:srgbClr val="17171B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7889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apps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2788920"/>
            <a:ext cx="2862072" cy="676656"/>
          </a:xfrm>
          <a:prstGeom prst="rect">
            <a:avLst/>
          </a:prstGeom>
          <a:solidFill>
            <a:srgbClr val="E5352B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788920"/>
            <a:ext cx="2587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6557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to claim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291840" y="3465576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46557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+ gas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35040" y="3465576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46557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+ signup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78240" y="3465576"/>
            <a:ext cx="2862072" cy="676656"/>
          </a:xfrm>
          <a:prstGeom prst="rect">
            <a:avLst/>
          </a:prstGeom>
          <a:solidFill>
            <a:srgbClr val="1B1B05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3465576"/>
            <a:ext cx="2587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taps — nothing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42232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291840" y="4142232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142232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token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35040" y="4142232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4142232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points balance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778240" y="4142232"/>
            <a:ext cx="2862072" cy="676656"/>
          </a:xfrm>
          <a:prstGeom prst="rect">
            <a:avLst/>
          </a:prstGeom>
          <a:solidFill>
            <a:srgbClr val="1B1B05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4142232"/>
            <a:ext cx="2587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venue itself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818888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8188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keep it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3291840" y="4818888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48188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Speculation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035040" y="4818888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8188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778240" y="4818888"/>
            <a:ext cx="2862072" cy="676656"/>
          </a:xfrm>
          <a:prstGeom prst="rect">
            <a:avLst/>
          </a:prstGeom>
          <a:solidFill>
            <a:srgbClr val="1B1B05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15400" y="4818888"/>
            <a:ext cx="2587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48640" y="5495544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49554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network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3291840" y="5495544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549554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(chain)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035040" y="5495544"/>
            <a:ext cx="2743200" cy="676656"/>
          </a:xfrm>
          <a:prstGeom prst="rect">
            <a:avLst/>
          </a:prstGeom>
          <a:solidFill>
            <a:srgbClr val="0E0E10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549554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(cloud)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778240" y="5495544"/>
            <a:ext cx="2862072" cy="676656"/>
          </a:xfrm>
          <a:prstGeom prst="rect">
            <a:avLst/>
          </a:prstGeom>
          <a:solidFill>
            <a:srgbClr val="1B1B05"/>
          </a:solidFill>
          <a:ln w="9525">
            <a:solidFill>
              <a:srgbClr val="2C2C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15400" y="5495544"/>
            <a:ext cx="2587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it just works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growing market — pointed exactly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where we're strongest.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69748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1264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Digital-collectibles market, USD billions (analyst consensus, ~20% CAGR).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60920" y="2697480"/>
            <a:ext cx="4251960" cy="10058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0920" y="2697480"/>
            <a:ext cx="73152" cy="1005840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807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311810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tastemaker venues — bars, restaurants, galleries, music &amp; community spaces.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60920" y="3840480"/>
            <a:ext cx="4251960" cy="10058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0920" y="3840480"/>
            <a:ext cx="73152" cy="1005840"/>
          </a:xfrm>
          <a:prstGeom prst="rect">
            <a:avLst/>
          </a:prstGeom>
          <a:solidFill>
            <a:srgbClr val="EDEDE8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89520" y="426110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regulars become collectors; cities light up room by room.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60920" y="4983480"/>
            <a:ext cx="4251960" cy="10058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0" y="4983480"/>
            <a:ext cx="73152" cy="100584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5093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89520" y="540410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way real-world places mark — and monetize — presence.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PRESS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F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 gets a first pressing. So should a room.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recruit 100 founding venues to mint one numbered first edition each — venues-first, in person, with taste. Then the door closes at 100.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60604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9808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slots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100 founding venues. Each claim is announced publicly — the counter is the campaign.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3703320"/>
            <a:ext cx="260604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38728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mints a first edition tied to one real night. Pressed once. Never again.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260604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27648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pull their copy on-site. No wallet. Numbered in claim order.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3703320"/>
            <a:ext cx="260604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16568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16568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100, the First Press is sealed — and the collector chapter opens to everyone.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press, a hundred times —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hundred launches.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121408" cy="23774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121408" cy="73152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a venue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Hand-picked tastemaker rooms mint a first press.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3472" y="35661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16352" y="2743200"/>
            <a:ext cx="2121408" cy="2377440"/>
          </a:xfrm>
          <a:prstGeom prst="rect">
            <a:avLst/>
          </a:prstGeom>
          <a:solidFill>
            <a:srgbClr val="1B1B05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2743200"/>
            <a:ext cx="2121408" cy="73152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15" name="Text 13"/>
          <p:cNvSpPr/>
          <p:nvPr/>
        </p:nvSpPr>
        <p:spPr>
          <a:xfrm>
            <a:off x="2953512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53512" y="3566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Regulars pull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53512" y="411480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crowd claims it on the night — belonging, not points.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35661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84064" y="2743200"/>
            <a:ext cx="2121408" cy="23774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2743200"/>
            <a:ext cx="2121408" cy="73152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21224" y="3566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spread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21224" y="411480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card is built to be shared; venues post first.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68896" y="35661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51776" y="2743200"/>
            <a:ext cx="2121408" cy="2377440"/>
          </a:xfrm>
          <a:prstGeom prst="rect">
            <a:avLst/>
          </a:prstGeom>
          <a:solidFill>
            <a:srgbClr val="1B1B05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51776" y="2743200"/>
            <a:ext cx="2121408" cy="73152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27" name="Text 25"/>
          <p:cNvSpPr/>
          <p:nvPr/>
        </p:nvSpPr>
        <p:spPr>
          <a:xfrm>
            <a:off x="7488936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88936" y="3566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form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88936" y="411480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Scene-adjacent people want the set, the city, the grid.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36608" y="35661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19488" y="2743200"/>
            <a:ext cx="2121408" cy="23774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19488" y="2743200"/>
            <a:ext cx="2121408" cy="73152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33" name="Text 31"/>
          <p:cNvSpPr/>
          <p:nvPr/>
        </p:nvSpPr>
        <p:spPr>
          <a:xfrm>
            <a:off x="9756648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756648" y="356616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venues ask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756648" y="411480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pulls the next rooms in. Repeat per city.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founding venue manufactures the next one's FOMO. The campaign builds the collector flywheel as a byproduct.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90 days, concretely.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024128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82296" cy="1024128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620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0–4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8072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80720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Brand, claim flow &amp; content engine live. 10 hand-picked design-partner venues signed in one anchor city.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024128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1024128"/>
          </a:xfrm>
          <a:prstGeom prst="rect">
            <a:avLst/>
          </a:prstGeom>
          <a:solidFill>
            <a:srgbClr val="EDED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507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5–8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3995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presses live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399592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climbing toward ~40/100. Venue reposts compounding distribution.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1024128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074920"/>
            <a:ext cx="82296" cy="1024128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3951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9–12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34640" y="51846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to close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518464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80–100/100 founding slots. The Wall ready; collector waitlist primed for chapter two.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68680" y="310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· TESSERA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3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2910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numbers. Everything else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diagnostic.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20440" cy="292608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3520440" cy="73152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E535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80–100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venues signed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754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is the whole game in Phase 1.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520440" cy="292608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926080"/>
            <a:ext cx="3520440" cy="73152"/>
          </a:xfrm>
          <a:prstGeom prst="rect">
            <a:avLst/>
          </a:prstGeom>
          <a:solidFill>
            <a:srgbClr val="E8FF55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E8F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60%+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526280" y="4251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per venue night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754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the drop converts the room.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926080"/>
            <a:ext cx="3520440" cy="292608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926080"/>
            <a:ext cx="3520440" cy="73152"/>
          </a:xfrm>
          <a:prstGeom prst="rect">
            <a:avLst/>
          </a:prstGeom>
          <a:solidFill>
            <a:srgbClr val="EDEDE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35%+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321040" y="4251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collector return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47548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Belonging, not novelty — real retention.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vanity metrics. If a number isn't a venue signed, a card pulled, or a collector returning — it doesn't get reported.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5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53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GLYPH · TESSERA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Press the first 100 rooms.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EDED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 the door at 100.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 wasn't there spends the next chapter trying to get in. </a:t>
            </a:r>
            <a:pPr indent="0" marL="0">
              <a:buNone/>
            </a:pPr>
            <a:r>
              <a:rPr lang="en-US" sz="18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company.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3383280" cy="14630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23036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— fund the 100-venue First Press in one anchor city + the content engine.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4709160"/>
            <a:ext cx="3383280" cy="14630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523036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venue acquisition, design tooling, and the collector flywheel.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4709160"/>
            <a:ext cx="3383280" cy="1463040"/>
          </a:xfrm>
          <a:prstGeom prst="rect">
            <a:avLst/>
          </a:prstGeom>
          <a:solidFill>
            <a:srgbClr val="17171B"/>
          </a:solidFill>
          <a:ln w="12700">
            <a:solidFill>
              <a:srgbClr val="2C2C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48646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56448" y="523036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signed · cards pulled · collectors returning — in 90 days.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you were there.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Glyph / Tessera — Pitch</dc:title>
  <dc:subject>PptxGenJS Presentation</dc:subject>
  <dc:creator>Glyph Studio</dc:creator>
  <cp:lastModifiedBy>Glyph Studio</cp:lastModifiedBy>
  <cp:revision>1</cp:revision>
  <dcterms:created xsi:type="dcterms:W3CDTF">2026-06-06T12:29:30Z</dcterms:created>
  <dcterms:modified xsi:type="dcterms:W3CDTF">2026-06-06T12:29:30Z</dcterms:modified>
</cp:coreProperties>
</file>